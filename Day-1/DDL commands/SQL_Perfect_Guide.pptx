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23.png"/><Relationship Id="rId10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309" cy="1069213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355600"/>
            <a:ext cx="6699250" cy="793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" y="1257300"/>
            <a:ext cx="6699250" cy="2774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800" y="1257300"/>
            <a:ext cx="6699250" cy="2774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800" y="1257300"/>
            <a:ext cx="6699250" cy="2774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800" y="1257300"/>
            <a:ext cx="6699250" cy="2774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" y="1257300"/>
            <a:ext cx="6699250" cy="2774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250" y="2393950"/>
            <a:ext cx="6381750" cy="412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250" y="3060700"/>
            <a:ext cx="6381750" cy="260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250" y="3378200"/>
            <a:ext cx="6381750" cy="552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800" y="4121150"/>
            <a:ext cx="6699250" cy="2832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1800" y="4121150"/>
            <a:ext cx="6699250" cy="2832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1800" y="4121150"/>
            <a:ext cx="6699250" cy="28321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1800" y="4121150"/>
            <a:ext cx="6699250" cy="28321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1800" y="4121150"/>
            <a:ext cx="6699250" cy="28321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3250" y="5416550"/>
            <a:ext cx="6381750" cy="4127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3250" y="6292850"/>
            <a:ext cx="6381750" cy="552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1800" y="7042150"/>
            <a:ext cx="6699250" cy="25019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1800" y="7042150"/>
            <a:ext cx="6699250" cy="25019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1800" y="7042150"/>
            <a:ext cx="6699250" cy="25019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1800" y="7042150"/>
            <a:ext cx="6699250" cy="25019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31800" y="7042150"/>
            <a:ext cx="6699250" cy="25019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3250" y="8178800"/>
            <a:ext cx="6381750" cy="2603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03250" y="8750300"/>
            <a:ext cx="6381750" cy="6921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143500" y="2203450"/>
            <a:ext cx="1733550" cy="1270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43500" y="2457450"/>
            <a:ext cx="1695450" cy="1270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143500" y="2609850"/>
            <a:ext cx="292100" cy="1270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143500" y="2870200"/>
            <a:ext cx="1485900" cy="1206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143500" y="3124200"/>
            <a:ext cx="1244600" cy="1270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143500" y="5073650"/>
            <a:ext cx="1631950" cy="1270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143500" y="5226050"/>
            <a:ext cx="412750" cy="1270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143500" y="5480050"/>
            <a:ext cx="1752600" cy="1270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143500" y="5632450"/>
            <a:ext cx="292100" cy="1270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143500" y="5886450"/>
            <a:ext cx="1568450" cy="1270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143500" y="6038850"/>
            <a:ext cx="292100" cy="1270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143500" y="7988300"/>
            <a:ext cx="514350" cy="1270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143500" y="8242300"/>
            <a:ext cx="635000" cy="1270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143500" y="8502650"/>
            <a:ext cx="1123950" cy="127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03250" y="538480"/>
            <a:ext cx="478663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5" b="1" sz="1800">
                <a:solidFill>
                  <a:srgbClr val="FFFFFF"/>
                </a:solidFill>
                <a:latin typeface="Roboto"/>
              </a:rPr>
              <a:t>SQL Control Architecture (DDL, DML &amp; TCL)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250" y="866140"/>
            <a:ext cx="247523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950">
                <a:solidFill>
                  <a:srgbClr val="CBD5E1"/>
                </a:solidFill>
                <a:latin typeface="Roboto"/>
              </a:rPr>
              <a:t>Complete Reference Guide &amp; Difference Table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250" y="1390650"/>
            <a:ext cx="22567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5" b="1" sz="1100">
                <a:solidFill>
                  <a:srgbClr val="1E40AF"/>
                </a:solidFill>
                <a:latin typeface="Roboto"/>
              </a:rPr>
              <a:t>1. Data Definition Language (DDL)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250" y="1694180"/>
            <a:ext cx="491363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850">
                <a:solidFill>
                  <a:srgbClr val="334155"/>
                </a:solidFill>
                <a:latin typeface="Roboto"/>
              </a:rPr>
              <a:t>Defines and alters the </a:t>
            </a:r>
            <a:r>
              <a:rPr spc="19" b="1" sz="850">
                <a:solidFill>
                  <a:srgbClr val="334155"/>
                </a:solidFill>
                <a:latin typeface="Roboto"/>
              </a:rPr>
              <a:t>structure/schema</a:t>
            </a:r>
            <a:r>
              <a:rPr spc="-5" sz="850">
                <a:solidFill>
                  <a:srgbClr val="334155"/>
                </a:solidFill>
                <a:latin typeface="Roboto"/>
              </a:rPr>
              <a:t> of database objects. Auto-committed (cannot be rolled back).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607060" y="1885950"/>
          <a:ext cx="6374130" cy="14300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3810"/>
                <a:gridCol w="3187700"/>
                <a:gridCol w="1912620"/>
              </a:tblGrid>
              <a:tr h="255269"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30" b="1" sz="850">
                          <a:solidFill>
                            <a:srgbClr val="334155"/>
                          </a:solidFill>
                          <a:latin typeface="Roboto"/>
                        </a:rPr>
                        <a:t>Command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444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solidFill>
                      <a:srgbClr val="f0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34" b="1" sz="850">
                          <a:solidFill>
                            <a:srgbClr val="334155"/>
                          </a:solidFill>
                          <a:latin typeface="Roboto"/>
                        </a:rPr>
                        <a:t>Description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444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solidFill>
                      <a:srgbClr val="f0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marL="76200" algn="l">
                        <a:lnSpc>
                          <a:spcPts val="850"/>
                        </a:lnSpc>
                      </a:pPr>
                      <a:r>
                        <a:rPr spc="37" b="1" sz="850">
                          <a:solidFill>
                            <a:srgbClr val="334155"/>
                          </a:solidFill>
                          <a:latin typeface="Roboto"/>
                        </a:rPr>
                        <a:t>Syntax Example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444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solidFill>
                      <a:srgbClr val="f0f4f9">
                        <a:alpha val="100000"/>
                      </a:srgbClr>
                    </a:solidFill>
                  </a:tcPr>
                </a:tc>
              </a:tr>
              <a:tr h="257810"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50" b="1" sz="850">
                          <a:solidFill>
                            <a:srgbClr val="1E293B"/>
                          </a:solidFill>
                          <a:latin typeface="Roboto"/>
                        </a:rPr>
                        <a:t>CREATE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0" sz="850">
                          <a:solidFill>
                            <a:srgbClr val="1E293B"/>
                          </a:solidFill>
                          <a:latin typeface="Roboto"/>
                        </a:rPr>
                        <a:t>Creates a new database object.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0"/>
                        </a:lnSpc>
                      </a:pPr>
                    </a:p>
                    <a:p>
                      <a:pPr algn="ctr">
                        <a:lnSpc>
                          <a:spcPts val="800"/>
                        </a:lnSpc>
                      </a:pPr>
                      <a:r>
                        <a:rPr spc="109" sz="800">
                          <a:solidFill>
                            <a:srgbClr val="1E293B"/>
                          </a:solidFill>
                          <a:latin typeface="Roboto"/>
                        </a:rPr>
                        <a:t>CREATE TABLE Student (...);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ts val="113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42" b="1" sz="850">
                          <a:solidFill>
                            <a:srgbClr val="1E293B"/>
                          </a:solidFill>
                          <a:latin typeface="Roboto"/>
                        </a:rPr>
                        <a:t>ALTER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3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-10" sz="850">
                          <a:solidFill>
                            <a:srgbClr val="1E293B"/>
                          </a:solidFill>
                          <a:latin typeface="Roboto"/>
                        </a:rPr>
                        <a:t>Modifies existing table structure.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"/>
                        </a:lnSpc>
                      </a:pPr>
                    </a:p>
                    <a:p>
                      <a:pPr marL="76200" algn="l">
                        <a:lnSpc>
                          <a:spcPts val="1190"/>
                        </a:lnSpc>
                      </a:pPr>
                      <a:r>
                        <a:rPr spc="62" sz="800">
                          <a:solidFill>
                            <a:srgbClr val="1E293B"/>
                          </a:solidFill>
                          <a:latin typeface="Roboto"/>
                        </a:rPr>
                        <a:t>ALTER TABLE Student ADD Age</a:t>
                      </a:r>
                      <a:br/>
                      <a:r>
                        <a:rPr spc="121" sz="800">
                          <a:solidFill>
                            <a:srgbClr val="1E293B"/>
                          </a:solidFill>
                          <a:latin typeface="Roboto"/>
                        </a:rPr>
                        <a:t>INT;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5269"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34" b="1" sz="850">
                          <a:solidFill>
                            <a:srgbClr val="1E293B"/>
                          </a:solidFill>
                          <a:latin typeface="Roboto"/>
                        </a:rPr>
                        <a:t>TRUNCATE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0" sz="850">
                          <a:solidFill>
                            <a:srgbClr val="1E293B"/>
                          </a:solidFill>
                          <a:latin typeface="Roboto"/>
                        </a:rPr>
                        <a:t>Removes all records; keeps table structure.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70"/>
                        </a:lnSpc>
                      </a:pPr>
                    </a:p>
                    <a:p>
                      <a:pPr marL="114300" algn="l">
                        <a:lnSpc>
                          <a:spcPts val="800"/>
                        </a:lnSpc>
                      </a:pPr>
                      <a:r>
                        <a:rPr spc="56" sz="800">
                          <a:solidFill>
                            <a:srgbClr val="1E293B"/>
                          </a:solidFill>
                          <a:latin typeface="Roboto"/>
                        </a:rPr>
                        <a:t>TRUNCATE TABLE Student;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59" b="1" sz="850">
                          <a:solidFill>
                            <a:srgbClr val="1E293B"/>
                          </a:solidFill>
                          <a:latin typeface="Roboto"/>
                        </a:rPr>
                        <a:t>DROP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-3" sz="850">
                          <a:solidFill>
                            <a:srgbClr val="1E293B"/>
                          </a:solidFill>
                          <a:latin typeface="Roboto"/>
                        </a:rPr>
                        <a:t>Permanently deletes table and structure.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0"/>
                        </a:lnSpc>
                      </a:pPr>
                    </a:p>
                    <a:p>
                      <a:pPr marL="114300" algn="l">
                        <a:lnSpc>
                          <a:spcPts val="800"/>
                        </a:lnSpc>
                      </a:pPr>
                      <a:r>
                        <a:rPr spc="70" sz="800">
                          <a:solidFill>
                            <a:srgbClr val="1E293B"/>
                          </a:solidFill>
                          <a:latin typeface="Roboto"/>
                        </a:rPr>
                        <a:t>DROP TABLE Student;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698500" y="3473450"/>
            <a:ext cx="9144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8" i="1" sz="800">
                <a:solidFill>
                  <a:srgbClr val="64748B"/>
                </a:solidFill>
                <a:latin typeface="Roboto"/>
              </a:rPr>
              <a:t>-- DDL Example: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8500" y="3605529"/>
            <a:ext cx="365887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" b="1" sz="800">
                <a:solidFill>
                  <a:srgbClr val="38BDF8"/>
                </a:solidFill>
                <a:latin typeface="Roboto"/>
              </a:rPr>
              <a:t>CREATE TABLE</a:t>
            </a:r>
            <a:r>
              <a:rPr spc="110" sz="800">
                <a:solidFill>
                  <a:srgbClr val="F472B6"/>
                </a:solidFill>
                <a:latin typeface="Roboto"/>
              </a:rPr>
              <a:t> Student</a:t>
            </a:r>
            <a:r>
              <a:rPr spc="197" sz="800">
                <a:solidFill>
                  <a:srgbClr val="F8FAFC"/>
                </a:solidFill>
                <a:latin typeface="Roboto"/>
              </a:rPr>
              <a:t> (ID </a:t>
            </a:r>
            <a:r>
              <a:rPr spc="46" b="1" sz="800">
                <a:solidFill>
                  <a:srgbClr val="38BDF8"/>
                </a:solidFill>
                <a:latin typeface="Roboto"/>
              </a:rPr>
              <a:t>INT PRIMARY KEY</a:t>
            </a:r>
            <a:r>
              <a:rPr spc="96" sz="800">
                <a:solidFill>
                  <a:srgbClr val="F8FAFC"/>
                </a:solidFill>
                <a:latin typeface="Roboto"/>
              </a:rPr>
              <a:t>, Name </a:t>
            </a:r>
            <a:r>
              <a:rPr spc="-39" b="1" sz="800">
                <a:solidFill>
                  <a:srgbClr val="38BDF8"/>
                </a:solidFill>
                <a:latin typeface="Roboto"/>
              </a:rPr>
              <a:t>VARCHAR</a:t>
            </a:r>
            <a:r>
              <a:rPr spc="163" sz="800">
                <a:solidFill>
                  <a:srgbClr val="F8FAFC"/>
                </a:solidFill>
                <a:latin typeface="Roboto"/>
              </a:rPr>
              <a:t>(50));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8500" y="3737610"/>
            <a:ext cx="26225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9" b="1" sz="800">
                <a:solidFill>
                  <a:srgbClr val="38BDF8"/>
                </a:solidFill>
                <a:latin typeface="Roboto"/>
              </a:rPr>
              <a:t>ALTER TABLE</a:t>
            </a:r>
            <a:r>
              <a:rPr spc="110" sz="800">
                <a:solidFill>
                  <a:srgbClr val="F472B6"/>
                </a:solidFill>
                <a:latin typeface="Roboto"/>
              </a:rPr>
              <a:t> Student</a:t>
            </a:r>
            <a:r>
              <a:rPr spc="37" b="1" sz="800">
                <a:solidFill>
                  <a:srgbClr val="38BDF8"/>
                </a:solidFill>
                <a:latin typeface="Roboto"/>
              </a:rPr>
              <a:t> ADD</a:t>
            </a:r>
            <a:r>
              <a:rPr spc="140" sz="800">
                <a:solidFill>
                  <a:srgbClr val="F8FAFC"/>
                </a:solidFill>
                <a:latin typeface="Roboto"/>
              </a:rPr>
              <a:t> Email </a:t>
            </a:r>
            <a:r>
              <a:rPr spc="-39" b="1" sz="800">
                <a:solidFill>
                  <a:srgbClr val="38BDF8"/>
                </a:solidFill>
                <a:latin typeface="Roboto"/>
              </a:rPr>
              <a:t>VARCHAR</a:t>
            </a:r>
            <a:r>
              <a:rPr spc="134" sz="800">
                <a:solidFill>
                  <a:srgbClr val="F8FAFC"/>
                </a:solidFill>
                <a:latin typeface="Roboto"/>
              </a:rPr>
              <a:t>(100);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250" y="4259580"/>
            <a:ext cx="24879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0" b="1" sz="1100">
                <a:solidFill>
                  <a:srgbClr val="065F46"/>
                </a:solidFill>
                <a:latin typeface="Roboto"/>
              </a:rPr>
              <a:t>2. Data Manipulation Language (DML)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250" y="4563110"/>
            <a:ext cx="409321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850">
                <a:solidFill>
                  <a:srgbClr val="334155"/>
                </a:solidFill>
                <a:latin typeface="Roboto"/>
              </a:rPr>
              <a:t>Manages and modifies </a:t>
            </a:r>
            <a:r>
              <a:rPr spc="20" b="1" sz="850">
                <a:solidFill>
                  <a:srgbClr val="334155"/>
                </a:solidFill>
                <a:latin typeface="Roboto"/>
              </a:rPr>
              <a:t>data rows/records</a:t>
            </a:r>
            <a:r>
              <a:rPr spc="-7" sz="850">
                <a:solidFill>
                  <a:srgbClr val="334155"/>
                </a:solidFill>
                <a:latin typeface="Roboto"/>
              </a:rPr>
              <a:t> inside existing tables. Not auto-committed.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607060" y="4754880"/>
          <a:ext cx="6374130" cy="1475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3810"/>
                <a:gridCol w="3187700"/>
                <a:gridCol w="1912620"/>
              </a:tblGrid>
              <a:tr h="256540"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30" b="1" sz="850">
                          <a:solidFill>
                            <a:srgbClr val="334155"/>
                          </a:solidFill>
                          <a:latin typeface="Roboto"/>
                        </a:rPr>
                        <a:t>Command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solidFill>
                      <a:srgbClr val="f0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34" b="1" sz="850">
                          <a:solidFill>
                            <a:srgbClr val="334155"/>
                          </a:solidFill>
                          <a:latin typeface="Roboto"/>
                        </a:rPr>
                        <a:t>Description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solidFill>
                      <a:srgbClr val="f0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6200" algn="l">
                        <a:lnSpc>
                          <a:spcPts val="850"/>
                        </a:lnSpc>
                      </a:pPr>
                      <a:r>
                        <a:rPr spc="37" b="1" sz="850">
                          <a:solidFill>
                            <a:srgbClr val="334155"/>
                          </a:solidFill>
                          <a:latin typeface="Roboto"/>
                        </a:rPr>
                        <a:t>Syntax Example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solidFill>
                      <a:srgbClr val="f0f4f9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ts val="113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42" b="1" sz="850">
                          <a:solidFill>
                            <a:srgbClr val="1E293B"/>
                          </a:solidFill>
                          <a:latin typeface="Roboto"/>
                        </a:rPr>
                        <a:t>INSERT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3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-4" sz="850">
                          <a:solidFill>
                            <a:srgbClr val="1E293B"/>
                          </a:solidFill>
                          <a:latin typeface="Roboto"/>
                        </a:rPr>
                        <a:t>Adds new data rows into a table.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"/>
                        </a:lnSpc>
                      </a:pPr>
                    </a:p>
                    <a:p>
                      <a:pPr marL="76200" algn="l">
                        <a:lnSpc>
                          <a:spcPts val="1190"/>
                        </a:lnSpc>
                      </a:pPr>
                      <a:r>
                        <a:rPr spc="65" sz="800">
                          <a:solidFill>
                            <a:srgbClr val="1E293B"/>
                          </a:solidFill>
                          <a:latin typeface="Roboto"/>
                        </a:rPr>
                        <a:t>INSERT INTO Student VALUES</a:t>
                      </a:r>
                      <a:br/>
                      <a:r>
                        <a:rPr spc="254" sz="800">
                          <a:solidFill>
                            <a:srgbClr val="1E293B"/>
                          </a:solidFill>
                          <a:latin typeface="Roboto"/>
                        </a:rPr>
                        <a:t>(...);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ts val="114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30" b="1" sz="850">
                          <a:solidFill>
                            <a:srgbClr val="1E293B"/>
                          </a:solidFill>
                          <a:latin typeface="Roboto"/>
                        </a:rPr>
                        <a:t>UPDATE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4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-7" sz="850">
                          <a:solidFill>
                            <a:srgbClr val="1E293B"/>
                          </a:solidFill>
                          <a:latin typeface="Roboto"/>
                        </a:rPr>
                        <a:t>Modifies existing record values.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0"/>
                        </a:lnSpc>
                      </a:pPr>
                    </a:p>
                    <a:p>
                      <a:pPr marL="76200" algn="l">
                        <a:lnSpc>
                          <a:spcPts val="1190"/>
                        </a:lnSpc>
                      </a:pPr>
                      <a:r>
                        <a:rPr spc="67" sz="800">
                          <a:solidFill>
                            <a:srgbClr val="1E293B"/>
                          </a:solidFill>
                          <a:latin typeface="Roboto"/>
                        </a:rPr>
                        <a:t>UPDATE Student SET ... WHERE </a:t>
                      </a:r>
                      <a:r>
                        <a:rPr spc="279" sz="800">
                          <a:solidFill>
                            <a:srgbClr val="1E293B"/>
                          </a:solidFill>
                          <a:latin typeface="Roboto"/>
                        </a:rPr>
                        <a:t>...;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ts val="114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61" b="1" sz="850">
                          <a:solidFill>
                            <a:srgbClr val="1E293B"/>
                          </a:solidFill>
                          <a:latin typeface="Roboto"/>
                        </a:rPr>
                        <a:t>DELETE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4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-5" sz="850">
                          <a:solidFill>
                            <a:srgbClr val="1E293B"/>
                          </a:solidFill>
                          <a:latin typeface="Roboto"/>
                        </a:rPr>
                        <a:t>Removes specific data rows.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0"/>
                        </a:lnSpc>
                      </a:pPr>
                    </a:p>
                    <a:p>
                      <a:pPr marL="76200" algn="l">
                        <a:lnSpc>
                          <a:spcPts val="1190"/>
                        </a:lnSpc>
                      </a:pPr>
                      <a:r>
                        <a:rPr spc="39" sz="800">
                          <a:solidFill>
                            <a:srgbClr val="1E293B"/>
                          </a:solidFill>
                          <a:latin typeface="Roboto"/>
                        </a:rPr>
                        <a:t>DELETE FROM Student WHERE</a:t>
                      </a:r>
                      <a:br/>
                      <a:r>
                        <a:rPr spc="279" sz="800">
                          <a:solidFill>
                            <a:srgbClr val="1E293B"/>
                          </a:solidFill>
                          <a:latin typeface="Roboto"/>
                        </a:rPr>
                        <a:t>...;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698500" y="6388100"/>
            <a:ext cx="9144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7" i="1" sz="800">
                <a:solidFill>
                  <a:srgbClr val="64748B"/>
                </a:solidFill>
                <a:latin typeface="Roboto"/>
              </a:rPr>
              <a:t>-- DML Example: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8500" y="6520180"/>
            <a:ext cx="256159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2" b="1" sz="800">
                <a:solidFill>
                  <a:srgbClr val="38BDF8"/>
                </a:solidFill>
                <a:latin typeface="Roboto"/>
              </a:rPr>
              <a:t>INSERT INTO</a:t>
            </a:r>
            <a:r>
              <a:rPr spc="110" sz="800">
                <a:solidFill>
                  <a:srgbClr val="F472B6"/>
                </a:solidFill>
                <a:latin typeface="Roboto"/>
              </a:rPr>
              <a:t> Student</a:t>
            </a:r>
            <a:r>
              <a:rPr spc="35" b="1" sz="800">
                <a:solidFill>
                  <a:srgbClr val="38BDF8"/>
                </a:solidFill>
                <a:latin typeface="Roboto"/>
              </a:rPr>
              <a:t> VALUES</a:t>
            </a:r>
            <a:r>
              <a:rPr spc="169" sz="800">
                <a:solidFill>
                  <a:srgbClr val="F8FAFC"/>
                </a:solidFill>
                <a:latin typeface="Roboto"/>
              </a:rPr>
              <a:t> (101, </a:t>
            </a:r>
            <a:r>
              <a:rPr spc="153" sz="800">
                <a:solidFill>
                  <a:srgbClr val="A3E635"/>
                </a:solidFill>
                <a:latin typeface="Roboto"/>
              </a:rPr>
              <a:t>'Rahul'</a:t>
            </a:r>
            <a:r>
              <a:rPr spc="256" sz="800">
                <a:solidFill>
                  <a:srgbClr val="F8FAFC"/>
                </a:solidFill>
                <a:latin typeface="Roboto"/>
              </a:rPr>
              <a:t>);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8500" y="6652259"/>
            <a:ext cx="2927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1" b="1" sz="800">
                <a:solidFill>
                  <a:srgbClr val="38BDF8"/>
                </a:solidFill>
                <a:latin typeface="Roboto"/>
              </a:rPr>
              <a:t>UPDATE</a:t>
            </a:r>
            <a:r>
              <a:rPr spc="110" sz="800">
                <a:solidFill>
                  <a:srgbClr val="F472B6"/>
                </a:solidFill>
                <a:latin typeface="Roboto"/>
              </a:rPr>
              <a:t> Student</a:t>
            </a:r>
            <a:r>
              <a:rPr spc="78" b="1" sz="800">
                <a:solidFill>
                  <a:srgbClr val="38BDF8"/>
                </a:solidFill>
                <a:latin typeface="Roboto"/>
              </a:rPr>
              <a:t> SET</a:t>
            </a:r>
            <a:r>
              <a:rPr spc="84" sz="800">
                <a:solidFill>
                  <a:srgbClr val="F8FAFC"/>
                </a:solidFill>
                <a:latin typeface="Roboto"/>
              </a:rPr>
              <a:t> Name = </a:t>
            </a:r>
            <a:r>
              <a:rPr spc="177" sz="800">
                <a:solidFill>
                  <a:srgbClr val="A3E635"/>
                </a:solidFill>
                <a:latin typeface="Roboto"/>
              </a:rPr>
              <a:t>'Alex'</a:t>
            </a:r>
            <a:r>
              <a:rPr spc="-1" b="1" sz="800">
                <a:solidFill>
                  <a:srgbClr val="38BDF8"/>
                </a:solidFill>
                <a:latin typeface="Roboto"/>
              </a:rPr>
              <a:t> WHERE</a:t>
            </a:r>
            <a:r>
              <a:rPr spc="150" sz="800">
                <a:solidFill>
                  <a:srgbClr val="F8FAFC"/>
                </a:solidFill>
                <a:latin typeface="Roboto"/>
              </a:rPr>
              <a:t> ID = 101;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250" y="7175500"/>
            <a:ext cx="257048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1100">
                <a:solidFill>
                  <a:srgbClr val="5B21B6"/>
                </a:solidFill>
                <a:latin typeface="Roboto"/>
              </a:rPr>
              <a:t>3. Transaction Control Language (TCL)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250" y="7479030"/>
            <a:ext cx="414274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850">
                <a:solidFill>
                  <a:srgbClr val="334155"/>
                </a:solidFill>
                <a:latin typeface="Roboto"/>
              </a:rPr>
              <a:t>Manages transactions executed by DML statements to ensure data safety and integrity.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607060" y="7670800"/>
          <a:ext cx="6374130" cy="10248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3810"/>
                <a:gridCol w="3187700"/>
                <a:gridCol w="1912620"/>
              </a:tblGrid>
              <a:tr h="256540"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30" b="1" sz="850">
                          <a:solidFill>
                            <a:srgbClr val="334155"/>
                          </a:solidFill>
                          <a:latin typeface="Roboto"/>
                        </a:rPr>
                        <a:t>Command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solidFill>
                      <a:srgbClr val="f0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34" b="1" sz="850">
                          <a:solidFill>
                            <a:srgbClr val="334155"/>
                          </a:solidFill>
                          <a:latin typeface="Roboto"/>
                        </a:rPr>
                        <a:t>Description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solidFill>
                      <a:srgbClr val="f0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6200" algn="l">
                        <a:lnSpc>
                          <a:spcPts val="850"/>
                        </a:lnSpc>
                      </a:pPr>
                      <a:r>
                        <a:rPr spc="37" b="1" sz="850">
                          <a:solidFill>
                            <a:srgbClr val="334155"/>
                          </a:solidFill>
                          <a:latin typeface="Roboto"/>
                        </a:rPr>
                        <a:t>Syntax Example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solidFill>
                      <a:srgbClr val="f0f4f9">
                        <a:alpha val="100000"/>
                      </a:srgbClr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13" b="1" sz="850">
                          <a:solidFill>
                            <a:srgbClr val="1E293B"/>
                          </a:solidFill>
                          <a:latin typeface="Roboto"/>
                        </a:rPr>
                        <a:t>COMMIT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0" sz="850">
                          <a:solidFill>
                            <a:srgbClr val="1E293B"/>
                          </a:solidFill>
                          <a:latin typeface="Roboto"/>
                        </a:rPr>
                        <a:t>Saves changes permanently.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70"/>
                        </a:lnSpc>
                      </a:pPr>
                    </a:p>
                    <a:p>
                      <a:pPr marL="114300" algn="l">
                        <a:lnSpc>
                          <a:spcPts val="800"/>
                        </a:lnSpc>
                      </a:pPr>
                      <a:r>
                        <a:rPr spc="3" sz="800">
                          <a:solidFill>
                            <a:srgbClr val="1E293B"/>
                          </a:solidFill>
                          <a:latin typeface="Roboto"/>
                        </a:rPr>
                        <a:t>COMMIT;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5269"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63" b="1" sz="850">
                          <a:solidFill>
                            <a:srgbClr val="1E293B"/>
                          </a:solidFill>
                          <a:latin typeface="Roboto"/>
                        </a:rPr>
                        <a:t>ROLLBACK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1E293B"/>
                          </a:solidFill>
                          <a:latin typeface="Roboto"/>
                        </a:rPr>
                        <a:t>Undoes changes back to last commit/savepoint.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0"/>
                        </a:lnSpc>
                      </a:pPr>
                    </a:p>
                    <a:p>
                      <a:pPr marL="114300" algn="l">
                        <a:lnSpc>
                          <a:spcPts val="800"/>
                        </a:lnSpc>
                      </a:pPr>
                      <a:r>
                        <a:rPr spc="22" sz="800">
                          <a:solidFill>
                            <a:srgbClr val="1E293B"/>
                          </a:solidFill>
                          <a:latin typeface="Roboto"/>
                        </a:rPr>
                        <a:t>ROLLBACK;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30" b="1" sz="850">
                          <a:solidFill>
                            <a:srgbClr val="1E293B"/>
                          </a:solidFill>
                          <a:latin typeface="Roboto"/>
                        </a:rPr>
                        <a:t>SAVEPOINT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-4" sz="850">
                          <a:solidFill>
                            <a:srgbClr val="1E293B"/>
                          </a:solidFill>
                          <a:latin typeface="Roboto"/>
                        </a:rPr>
                        <a:t>Sets a checkpoint within a transaction.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90"/>
                        </a:lnSpc>
                      </a:pPr>
                    </a:p>
                    <a:p>
                      <a:pPr marL="114300" algn="l">
                        <a:lnSpc>
                          <a:spcPts val="800"/>
                        </a:lnSpc>
                      </a:pPr>
                      <a:r>
                        <a:rPr spc="50" sz="800">
                          <a:solidFill>
                            <a:srgbClr val="1E293B"/>
                          </a:solidFill>
                          <a:latin typeface="Roboto"/>
                        </a:rPr>
                        <a:t>SAVEPOINT Check1;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698500" y="8850630"/>
            <a:ext cx="9144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2" i="1" sz="800">
                <a:solidFill>
                  <a:srgbClr val="64748B"/>
                </a:solidFill>
                <a:latin typeface="Roboto"/>
              </a:rPr>
              <a:t>-- TCL Example: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8500" y="8982710"/>
            <a:ext cx="38417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1" b="1" sz="800">
                <a:solidFill>
                  <a:srgbClr val="38BDF8"/>
                </a:solidFill>
                <a:latin typeface="Roboto"/>
              </a:rPr>
              <a:t>UPDATE</a:t>
            </a:r>
            <a:r>
              <a:rPr spc="83" sz="800">
                <a:solidFill>
                  <a:srgbClr val="F472B6"/>
                </a:solidFill>
                <a:latin typeface="Roboto"/>
              </a:rPr>
              <a:t> Accounts</a:t>
            </a:r>
            <a:r>
              <a:rPr spc="78" b="1" sz="800">
                <a:solidFill>
                  <a:srgbClr val="38BDF8"/>
                </a:solidFill>
                <a:latin typeface="Roboto"/>
              </a:rPr>
              <a:t> SET</a:t>
            </a:r>
            <a:r>
              <a:rPr spc="120" sz="800">
                <a:solidFill>
                  <a:srgbClr val="F8FAFC"/>
                </a:solidFill>
                <a:latin typeface="Roboto"/>
              </a:rPr>
              <a:t> Balance = Balance - 1000 </a:t>
            </a:r>
            <a:r>
              <a:rPr spc="-57" b="1" sz="800">
                <a:solidFill>
                  <a:srgbClr val="38BDF8"/>
                </a:solidFill>
                <a:latin typeface="Roboto"/>
              </a:rPr>
              <a:t>WHERE</a:t>
            </a:r>
            <a:r>
              <a:rPr spc="100" sz="800">
                <a:solidFill>
                  <a:srgbClr val="F8FAFC"/>
                </a:solidFill>
                <a:latin typeface="Roboto"/>
              </a:rPr>
              <a:t> AccNo = 101;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8500" y="9114790"/>
            <a:ext cx="97536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b="1" sz="800">
                <a:solidFill>
                  <a:srgbClr val="38BDF8"/>
                </a:solidFill>
                <a:latin typeface="Roboto"/>
              </a:rPr>
              <a:t>SAVEPOINT</a:t>
            </a:r>
            <a:r>
              <a:rPr spc="133" sz="800">
                <a:solidFill>
                  <a:srgbClr val="F8FAFC"/>
                </a:solidFill>
                <a:latin typeface="Roboto"/>
              </a:rPr>
              <a:t> Step1;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8500" y="9246870"/>
            <a:ext cx="42671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8" b="1" sz="800">
                <a:solidFill>
                  <a:srgbClr val="38BDF8"/>
                </a:solidFill>
                <a:latin typeface="Roboto"/>
              </a:rPr>
              <a:t>COMMIT</a:t>
            </a:r>
            <a:r>
              <a:rPr spc="310" sz="800">
                <a:solidFill>
                  <a:srgbClr val="F8FAFC"/>
                </a:solidFill>
                <a:latin typeface="Roboto"/>
              </a:rPr>
              <a:t>;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03250" y="1596390"/>
            <a:ext cx="6381750" cy="1905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03250" y="4465320"/>
            <a:ext cx="6381750" cy="1905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03250" y="7381240"/>
            <a:ext cx="63817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309" cy="1069213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355600"/>
            <a:ext cx="6699250" cy="2686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" y="355600"/>
            <a:ext cx="6699250" cy="2686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800" y="355600"/>
            <a:ext cx="6699250" cy="2686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800" y="355600"/>
            <a:ext cx="6699250" cy="2686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800" y="355600"/>
            <a:ext cx="6699250" cy="2686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250" y="1441450"/>
            <a:ext cx="6381750" cy="260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250" y="2101850"/>
            <a:ext cx="6381750" cy="260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250" y="2616200"/>
            <a:ext cx="6381750" cy="260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250" y="492759"/>
            <a:ext cx="26403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" b="1" sz="1100">
                <a:solidFill>
                  <a:srgbClr val="92400E"/>
                </a:solidFill>
                <a:latin typeface="Roboto"/>
              </a:rPr>
              <a:t>4. Difference Table: DDL vs DML vs TCL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7060" y="778510"/>
          <a:ext cx="6374129" cy="20802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8380"/>
                <a:gridCol w="1882139"/>
                <a:gridCol w="1682750"/>
                <a:gridCol w="1800860"/>
              </a:tblGrid>
              <a:tr h="256540"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27" b="1" sz="850">
                          <a:solidFill>
                            <a:srgbClr val="334155"/>
                          </a:solidFill>
                          <a:latin typeface="Roboto"/>
                        </a:rPr>
                        <a:t>Feature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444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solidFill>
                      <a:srgbClr val="f0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marL="76200" algn="l">
                        <a:lnSpc>
                          <a:spcPts val="850"/>
                        </a:lnSpc>
                      </a:pPr>
                      <a:r>
                        <a:rPr spc="31" b="1" sz="850">
                          <a:solidFill>
                            <a:srgbClr val="334155"/>
                          </a:solidFill>
                          <a:latin typeface="Roboto"/>
                        </a:rPr>
                        <a:t>DDL (Structure)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444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solidFill>
                      <a:srgbClr val="f0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23" b="1" sz="850">
                          <a:solidFill>
                            <a:srgbClr val="334155"/>
                          </a:solidFill>
                          <a:latin typeface="Roboto"/>
                        </a:rPr>
                        <a:t>DML (Data Rows)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444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solidFill>
                      <a:srgbClr val="f0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22" b="1" sz="850">
                          <a:solidFill>
                            <a:srgbClr val="334155"/>
                          </a:solidFill>
                          <a:latin typeface="Roboto"/>
                        </a:rPr>
                        <a:t>TCL (Transaction)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444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solidFill>
                      <a:srgbClr val="f0f4f9">
                        <a:alpha val="100000"/>
                      </a:srgbClr>
                    </a:solidFill>
                  </a:tcPr>
                </a:tc>
              </a:tr>
              <a:tr h="407669">
                <a:tc>
                  <a:txBody>
                    <a:bodyPr/>
                    <a:lstStyle/>
                    <a:p>
                      <a:pPr>
                        <a:lnSpc>
                          <a:spcPts val="210"/>
                        </a:lnSpc>
                      </a:pPr>
                    </a:p>
                    <a:p>
                      <a:pPr marL="77470" algn="l">
                        <a:lnSpc>
                          <a:spcPts val="1190"/>
                        </a:lnSpc>
                      </a:pPr>
                      <a:r>
                        <a:rPr spc="35" b="1" sz="850">
                          <a:solidFill>
                            <a:srgbClr val="1E293B"/>
                          </a:solidFill>
                          <a:latin typeface="Roboto"/>
                        </a:rPr>
                        <a:t>Primary</a:t>
                      </a:r>
                      <a:br/>
                      <a:r>
                        <a:rPr spc="36" b="1" sz="850">
                          <a:solidFill>
                            <a:srgbClr val="1E293B"/>
                          </a:solidFill>
                          <a:latin typeface="Roboto"/>
                        </a:rPr>
                        <a:t>Purpose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444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50"/>
                        </a:lnSpc>
                      </a:pPr>
                    </a:p>
                    <a:p>
                      <a:pPr marL="76200" algn="l">
                        <a:lnSpc>
                          <a:spcPts val="850"/>
                        </a:lnSpc>
                      </a:pPr>
                      <a:r>
                        <a:rPr spc="-7" sz="850">
                          <a:solidFill>
                            <a:srgbClr val="1E293B"/>
                          </a:solidFill>
                          <a:latin typeface="Roboto"/>
                        </a:rPr>
                        <a:t>Defines database schema/objects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444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"/>
                        </a:lnSpc>
                      </a:pPr>
                    </a:p>
                    <a:p>
                      <a:pPr marL="74930" algn="l">
                        <a:lnSpc>
                          <a:spcPts val="1190"/>
                        </a:lnSpc>
                      </a:pPr>
                      <a:r>
                        <a:rPr spc="-5" sz="850">
                          <a:solidFill>
                            <a:srgbClr val="1E293B"/>
                          </a:solidFill>
                          <a:latin typeface="Roboto"/>
                        </a:rPr>
                        <a:t>Manages &amp; modifies data</a:t>
                      </a:r>
                      <a:br/>
                      <a:r>
                        <a:rPr spc="-7" sz="850">
                          <a:solidFill>
                            <a:srgbClr val="1E293B"/>
                          </a:solidFill>
                          <a:latin typeface="Roboto"/>
                        </a:rPr>
                        <a:t>records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444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5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1E293B"/>
                          </a:solidFill>
                          <a:latin typeface="Roboto"/>
                        </a:rPr>
                        <a:t>Manages transaction stability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444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23" b="1" sz="850">
                          <a:solidFill>
                            <a:srgbClr val="1E293B"/>
                          </a:solidFill>
                          <a:latin typeface="Roboto"/>
                        </a:rPr>
                        <a:t>Target Scope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6200" algn="l">
                        <a:lnSpc>
                          <a:spcPts val="850"/>
                        </a:lnSpc>
                      </a:pPr>
                      <a:r>
                        <a:rPr spc="2" sz="850">
                          <a:solidFill>
                            <a:srgbClr val="1E293B"/>
                          </a:solidFill>
                          <a:latin typeface="Roboto"/>
                        </a:rPr>
                        <a:t>Tables, Views, Indexes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-3" sz="850">
                          <a:solidFill>
                            <a:srgbClr val="1E293B"/>
                          </a:solidFill>
                          <a:latin typeface="Roboto"/>
                        </a:rPr>
                        <a:t>Data rows inside tables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0" sz="850">
                          <a:solidFill>
                            <a:srgbClr val="1E293B"/>
                          </a:solidFill>
                          <a:latin typeface="Roboto"/>
                        </a:rPr>
                        <a:t>Pending DML operations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>
                        <a:lnSpc>
                          <a:spcPts val="115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31" b="1" sz="850">
                          <a:solidFill>
                            <a:srgbClr val="1E293B"/>
                          </a:solidFill>
                          <a:latin typeface="Roboto"/>
                        </a:rPr>
                        <a:t>Commands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"/>
                        </a:lnSpc>
                      </a:pPr>
                    </a:p>
                    <a:p>
                      <a:pPr marL="76200" algn="l">
                        <a:lnSpc>
                          <a:spcPts val="1190"/>
                        </a:lnSpc>
                      </a:pPr>
                      <a:r>
                        <a:rPr spc="36" sz="850">
                          <a:solidFill>
                            <a:srgbClr val="1E293B"/>
                          </a:solidFill>
                          <a:latin typeface="Roboto"/>
                        </a:rPr>
                        <a:t>CREATE, ALTER, DROP,</a:t>
                      </a:r>
                      <a:br/>
                      <a:r>
                        <a:rPr spc="22" sz="850">
                          <a:solidFill>
                            <a:srgbClr val="1E293B"/>
                          </a:solidFill>
                          <a:latin typeface="Roboto"/>
                        </a:rPr>
                        <a:t>TRUNCATE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5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34" sz="850">
                          <a:solidFill>
                            <a:srgbClr val="1E293B"/>
                          </a:solidFill>
                          <a:latin typeface="Roboto"/>
                        </a:rPr>
                        <a:t>INSERT, UPDATE, DELETE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"/>
                        </a:lnSpc>
                      </a:pPr>
                    </a:p>
                    <a:p>
                      <a:pPr marL="74930" algn="l">
                        <a:lnSpc>
                          <a:spcPts val="1190"/>
                        </a:lnSpc>
                      </a:pPr>
                      <a:r>
                        <a:rPr spc="25" sz="850">
                          <a:solidFill>
                            <a:srgbClr val="1E293B"/>
                          </a:solidFill>
                          <a:latin typeface="Roboto"/>
                        </a:rPr>
                        <a:t>COMMIT, ROLLBACK,</a:t>
                      </a:r>
                      <a:br/>
                      <a:r>
                        <a:rPr spc="23" sz="850">
                          <a:solidFill>
                            <a:srgbClr val="1E293B"/>
                          </a:solidFill>
                          <a:latin typeface="Roboto"/>
                        </a:rPr>
                        <a:t>SAVEPOINT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31" b="1" sz="850">
                          <a:solidFill>
                            <a:srgbClr val="1E293B"/>
                          </a:solidFill>
                          <a:latin typeface="Roboto"/>
                        </a:rPr>
                        <a:t>Auto-Commit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76200" algn="l">
                        <a:lnSpc>
                          <a:spcPts val="850"/>
                        </a:lnSpc>
                      </a:pPr>
                      <a:r>
                        <a:rPr spc="20" b="1" sz="850">
                          <a:solidFill>
                            <a:srgbClr val="1E293B"/>
                          </a:solidFill>
                          <a:latin typeface="Roboto"/>
                        </a:rPr>
                        <a:t>Yes</a:t>
                      </a:r>
                      <a:r>
                        <a:rPr spc="-4" sz="850">
                          <a:solidFill>
                            <a:srgbClr val="1E293B"/>
                          </a:solidFill>
                          <a:latin typeface="Roboto"/>
                        </a:rPr>
                        <a:t> (Saved automatically)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19" b="1" sz="850">
                          <a:solidFill>
                            <a:srgbClr val="1E293B"/>
                          </a:solidFill>
                          <a:latin typeface="Roboto"/>
                        </a:rPr>
                        <a:t>No</a:t>
                      </a:r>
                      <a:r>
                        <a:rPr spc="-6" sz="850">
                          <a:solidFill>
                            <a:srgbClr val="1E293B"/>
                          </a:solidFill>
                          <a:latin typeface="Roboto"/>
                        </a:rPr>
                        <a:t> (Requires explicit commit)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-7" sz="850">
                          <a:solidFill>
                            <a:srgbClr val="1E293B"/>
                          </a:solidFill>
                          <a:latin typeface="Roboto"/>
                        </a:rPr>
                        <a:t>N/A (Executes control)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6539"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36" b="1" sz="850">
                          <a:solidFill>
                            <a:srgbClr val="1E293B"/>
                          </a:solidFill>
                          <a:latin typeface="Roboto"/>
                        </a:rPr>
                        <a:t>Rollback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6200" algn="l">
                        <a:lnSpc>
                          <a:spcPts val="850"/>
                        </a:lnSpc>
                      </a:pPr>
                      <a:r>
                        <a:rPr spc="1" sz="850">
                          <a:solidFill>
                            <a:srgbClr val="1E293B"/>
                          </a:solidFill>
                          <a:latin typeface="Roboto"/>
                        </a:rPr>
                        <a:t>Cannot be rolled back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5" sz="850">
                          <a:solidFill>
                            <a:srgbClr val="1E293B"/>
                          </a:solidFill>
                          <a:latin typeface="Roboto"/>
                        </a:rPr>
                        <a:t>Can be rolled back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-6" sz="850">
                          <a:solidFill>
                            <a:srgbClr val="1E293B"/>
                          </a:solidFill>
                          <a:latin typeface="Roboto"/>
                        </a:rPr>
                        <a:t>Controls rollback operation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44" b="1" sz="850">
                          <a:solidFill>
                            <a:srgbClr val="1E293B"/>
                          </a:solidFill>
                          <a:latin typeface="Roboto"/>
                        </a:rPr>
                        <a:t>WHERE Clause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6200" algn="l">
                        <a:lnSpc>
                          <a:spcPts val="850"/>
                        </a:lnSpc>
                      </a:pPr>
                      <a:r>
                        <a:rPr spc="-1" sz="850">
                          <a:solidFill>
                            <a:srgbClr val="1E293B"/>
                          </a:solidFill>
                          <a:latin typeface="Roboto"/>
                        </a:rPr>
                        <a:t>Not Supported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2" sz="850">
                          <a:solidFill>
                            <a:srgbClr val="1E293B"/>
                          </a:solidFill>
                          <a:latin typeface="Roboto"/>
                        </a:rPr>
                        <a:t>Supported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-5" sz="850">
                          <a:solidFill>
                            <a:srgbClr val="1E293B"/>
                          </a:solidFill>
                          <a:latin typeface="Roboto"/>
                        </a:rPr>
                        <a:t>Not Applicable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e2e8ef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e2e8ef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e2e8ef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e2e8ef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250" y="698500"/>
            <a:ext cx="6381750" cy="19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